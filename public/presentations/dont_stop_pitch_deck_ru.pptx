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f6787f257a4b6d" /><Relationship Type="http://schemas.openxmlformats.org/officeDocument/2006/relationships/extended-properties" Target="/docProps/app.xml" Id="R8bbb0ec3a8e14a57" /><Relationship Type="http://schemas.openxmlformats.org/officeDocument/2006/relationships/officeDocument" Target="/ppt/presentation.xml" Id="R3c58a28b851c45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0c4c1b91ed417a"/>
  </p:sldMasterIdLst>
  <p:notesMasterIdLst>
    <p:notesMasterId xmlns:r="http://schemas.openxmlformats.org/officeDocument/2006/relationships" r:id="Rf47266fac67f488f"/>
  </p:notesMasterIdLst>
  <p:sldIdLst>
    <p:sldId xmlns:r="http://schemas.openxmlformats.org/officeDocument/2006/relationships" id="256" r:id="Re5e58b364e2c4f30"/>
    <p:sldId xmlns:r="http://schemas.openxmlformats.org/officeDocument/2006/relationships" id="257" r:id="R56768c54391f4601"/>
    <p:sldId xmlns:r="http://schemas.openxmlformats.org/officeDocument/2006/relationships" id="258" r:id="R98320e41952e4b6b"/>
    <p:sldId xmlns:r="http://schemas.openxmlformats.org/officeDocument/2006/relationships" id="259" r:id="R5f80b5eb9d56467c"/>
    <p:sldId xmlns:r="http://schemas.openxmlformats.org/officeDocument/2006/relationships" id="260" r:id="R4e5c8efc0f1240c9"/>
    <p:sldId xmlns:r="http://schemas.openxmlformats.org/officeDocument/2006/relationships" id="261" r:id="R97e937a0104047b2"/>
    <p:sldId xmlns:r="http://schemas.openxmlformats.org/officeDocument/2006/relationships" id="262" r:id="Re013bf769f09498f"/>
    <p:sldId xmlns:r="http://schemas.openxmlformats.org/officeDocument/2006/relationships" id="263" r:id="Rb74023b534334c0b"/>
    <p:sldId xmlns:r="http://schemas.openxmlformats.org/officeDocument/2006/relationships" id="264" r:id="R1f34e65cfb8b44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593e4f348f4866" /><Relationship Type="http://schemas.openxmlformats.org/officeDocument/2006/relationships/slideMaster" Target="/ppt/slideMasters/slideMaster1.xml" Id="R5b0c4c1b91ed417a" /><Relationship Type="http://schemas.openxmlformats.org/officeDocument/2006/relationships/notesMaster" Target="/ppt/notesMasters/notesMaster1.xml" Id="Rf47266fac67f488f" /><Relationship Type="http://schemas.openxmlformats.org/officeDocument/2006/relationships/presProps" Target="/ppt/presProps.xml" Id="R63877e4238b14f91" /><Relationship Type="http://schemas.openxmlformats.org/officeDocument/2006/relationships/tableStyles" Target="/ppt/tableStyles.xml" Id="R3f42557ebe99438b" /><Relationship Type="http://schemas.openxmlformats.org/officeDocument/2006/relationships/slide" Target="/ppt/slides/slide1.xml" Id="Re5e58b364e2c4f30" /><Relationship Type="http://schemas.openxmlformats.org/officeDocument/2006/relationships/slide" Target="/ppt/slides/slide2.xml" Id="R56768c54391f4601" /><Relationship Type="http://schemas.openxmlformats.org/officeDocument/2006/relationships/slide" Target="/ppt/slides/slide3.xml" Id="R98320e41952e4b6b" /><Relationship Type="http://schemas.openxmlformats.org/officeDocument/2006/relationships/slide" Target="/ppt/slides/slide4.xml" Id="R5f80b5eb9d56467c" /><Relationship Type="http://schemas.openxmlformats.org/officeDocument/2006/relationships/slide" Target="/ppt/slides/slide5.xml" Id="R4e5c8efc0f1240c9" /><Relationship Type="http://schemas.openxmlformats.org/officeDocument/2006/relationships/slide" Target="/ppt/slides/slide6.xml" Id="R97e937a0104047b2" /><Relationship Type="http://schemas.openxmlformats.org/officeDocument/2006/relationships/slide" Target="/ppt/slides/slide7.xml" Id="Re013bf769f09498f" /><Relationship Type="http://schemas.openxmlformats.org/officeDocument/2006/relationships/slide" Target="/ppt/slides/slide8.xml" Id="Rb74023b534334c0b" /><Relationship Type="http://schemas.openxmlformats.org/officeDocument/2006/relationships/slide" Target="/ppt/slides/slide9.xml" Id="R1f34e65cfb8b44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ba801945b647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68474bfe3342a8" /><Relationship Type="http://schemas.openxmlformats.org/officeDocument/2006/relationships/notesMaster" Target="/ppt/notesMasters/notesMaster1.xml" Id="R22882d68395a42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1ebcd9f6f94f0a" /><Relationship Type="http://schemas.openxmlformats.org/officeDocument/2006/relationships/notesMaster" Target="/ppt/notesMasters/notesMaster1.xml" Id="R42aaef57174a45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74fcafc9514101" /><Relationship Type="http://schemas.openxmlformats.org/officeDocument/2006/relationships/notesMaster" Target="/ppt/notesMasters/notesMaster1.xml" Id="R490a78aceef747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65094f468f4032" /><Relationship Type="http://schemas.openxmlformats.org/officeDocument/2006/relationships/notesMaster" Target="/ppt/notesMasters/notesMaster1.xml" Id="R14685711287b45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9c486fab29a419e" /><Relationship Type="http://schemas.openxmlformats.org/officeDocument/2006/relationships/notesMaster" Target="/ppt/notesMasters/notesMaster1.xml" Id="R34f111a55df94e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3ad443cbe04e5e" /><Relationship Type="http://schemas.openxmlformats.org/officeDocument/2006/relationships/notesMaster" Target="/ppt/notesMasters/notesMaster1.xml" Id="R35c7a17147764d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ffe5d914ac4e80" /><Relationship Type="http://schemas.openxmlformats.org/officeDocument/2006/relationships/notesMaster" Target="/ppt/notesMasters/notesMaster1.xml" Id="R8d02030dbc944b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189723bc3b453c" /><Relationship Type="http://schemas.openxmlformats.org/officeDocument/2006/relationships/notesMaster" Target="/ppt/notesMasters/notesMaster1.xml" Id="Ra98eae38d6de49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f43ead9073495d" /><Relationship Type="http://schemas.openxmlformats.org/officeDocument/2006/relationships/notesMaster" Target="/ppt/notesMasters/notesMaster1.xml" Id="R2049af99e4c843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2d90118d564f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572697046146fb" /><Relationship Type="http://schemas.openxmlformats.org/officeDocument/2006/relationships/slideLayout" Target="/ppt/slideLayouts/slideLayout1.xml" Id="R86acfc660fb24a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acfc660fb24a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20d21a647495b" /><Relationship Type="http://schemas.openxmlformats.org/officeDocument/2006/relationships/image" Target="/ppt/media/image.png" Id="R312d9b20a5194fde" /><Relationship Type="http://schemas.openxmlformats.org/officeDocument/2006/relationships/notesSlide" Target="/ppt/notesSlides/notesSlide1.xml" Id="Rd5bed3b90d0b41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c48991d5b403e" /><Relationship Type="http://schemas.openxmlformats.org/officeDocument/2006/relationships/notesSlide" Target="/ppt/notesSlides/notesSlide2.xml" Id="R3d439d5d502e41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8343367c484d79" /><Relationship Type="http://schemas.openxmlformats.org/officeDocument/2006/relationships/notesSlide" Target="/ppt/notesSlides/notesSlide3.xml" Id="Re2b6d3b62063469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932bedf4674d2b" /><Relationship Type="http://schemas.openxmlformats.org/officeDocument/2006/relationships/notesSlide" Target="/ppt/notesSlides/notesSlide4.xml" Id="Rb8ca8814ce2c4c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c499ad108d4a7c" /><Relationship Type="http://schemas.openxmlformats.org/officeDocument/2006/relationships/notesSlide" Target="/ppt/notesSlides/notesSlide5.xml" Id="R1e7c081db7bc46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f387bba394d0e" /><Relationship Type="http://schemas.openxmlformats.org/officeDocument/2006/relationships/notesSlide" Target="/ppt/notesSlides/notesSlide6.xml" Id="Rd16f592ab2e64c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250b8f1a734dd9" /><Relationship Type="http://schemas.openxmlformats.org/officeDocument/2006/relationships/notesSlide" Target="/ppt/notesSlides/notesSlide7.xml" Id="R306e95a849e447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c5b8a66a44928" /><Relationship Type="http://schemas.openxmlformats.org/officeDocument/2006/relationships/notesSlide" Target="/ppt/notesSlides/notesSlide8.xml" Id="Rd1a149487b45402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4ed1a57cc4b9b" /><Relationship Type="http://schemas.openxmlformats.org/officeDocument/2006/relationships/image" Target="/ppt/media/image2.png" Id="R9dc0c835639e46e7" /><Relationship Type="http://schemas.openxmlformats.org/officeDocument/2006/relationships/notesSlide" Target="/ppt/notesSlides/notesSlide9.xml" Id="R0174ca51d7c1472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2d9b20a5194fd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2B0F8A-BF66-47CB-932F-DF5BD3AE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0D">
              <a:alpha val="3800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39A7BC-6410-4D41-8991-A93CFD99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"/>
            <a:ext cx="5905500" cy="5829300"/>
          </a:xfrm>
          <a:prstGeom xmlns:a="http://schemas.openxmlformats.org/drawingml/2006/main" prst="roundRect">
            <a:avLst>
              <a:gd name="adj" fmla="val 4575"/>
            </a:avLst>
          </a:prstGeom>
          <a:solidFill xmlns:a="http://schemas.openxmlformats.org/drawingml/2006/main">
            <a:srgbClr val="07110D">
              <a:alpha val="82000"/>
            </a:srgbClr>
          </a:solidFill>
          <a:ln xmlns:a="http://schemas.openxmlformats.org/drawingml/2006/main" w="9525">
            <a:solidFill>
              <a:srgbClr val="20E6A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1B919A-4FF5-4F4F-90FF-8DA7DBF4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763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90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INVESTOR PITCH /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E497E9-4AA9-441D-A616-0AD32042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DON'T STOP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D9271-75BC-46F3-A078-55439B5B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8101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Платформа фитнеса и захвата территорий, которая превращает город в игровое поле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561818-903B-45C0-A4E6-65732A53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292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PRE-SEED  •  $50 000  •  РАБОЧИЙ WEB ENGINE</a:t>
            </a:r>
          </a:p>
        </p:txBody>
      </p:sp>
    </p:spTree>
    <p:extLst>
      <p:ext uri="{BB962C8B-B14F-4D97-AF65-F5344CB8AC3E}">
        <p14:creationId xmlns:p14="http://schemas.microsoft.com/office/powerpoint/2010/main" val="21241958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057329-23B4-469A-A908-2302F1A8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DON'T STOP  /  INVESTOR DECK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B4E4CD-59F2-48E6-851E-3A8A49FB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E8EB0A-BCAB-4FB7-B29B-44AC4BB5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125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Проблема и возможность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F42CA-B2F8-43C3-9264-3D5C5DEA6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B57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FF6B57"/>
                </a:solidFill>
                <a:latin typeface="DejaVu Sans"/>
                <a:ea typeface="DejaVu Sans"/>
                <a:cs typeface="DejaVu San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BA42C-8859-42DB-B789-47F477AD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906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OPPORTUNITY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22F8DC-A9E8-4B09-A42D-5F7ECB88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71650"/>
            <a:ext cx="533400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A1714"/>
          </a:solidFill>
          <a:ln xmlns:a="http://schemas.openxmlformats.org/drawingml/2006/main" w="9525">
            <a:solidFill>
              <a:srgbClr val="63362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15C57-18F9-4D2F-BF1E-43504014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438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64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6B57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6B57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307626-D315-46DE-B259-54C9A8F0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85950"/>
            <a:ext cx="4324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Фитнес-трекеры измеряют результат, но не превращают ежедневную активность в командную игру.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B3C6B-4411-47AD-A4AE-7D013FA5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81350"/>
            <a:ext cx="533400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A1714"/>
          </a:solidFill>
          <a:ln xmlns:a="http://schemas.openxmlformats.org/drawingml/2006/main" w="9525">
            <a:solidFill>
              <a:srgbClr val="63362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87E499-2F53-4735-9736-6D42466F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438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64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6B57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6B57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2B5CE-A53F-41AB-AC7E-1BC76C86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324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Пользователи тренируются поодиночке. Им не хватает локального соперничества и общей цели.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E2305A-ED15-4F56-8DCC-3E17A5D1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91050"/>
            <a:ext cx="533400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A1714"/>
          </a:solidFill>
          <a:ln xmlns:a="http://schemas.openxmlformats.org/drawingml/2006/main" w="9525">
            <a:solidFill>
              <a:srgbClr val="63362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58CB75-BA80-450E-A2B3-F131ABEC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438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64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6B57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6B57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524B1-7581-4458-8296-C99F8BF2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4324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Мобильным игрокам нужен прогресс в реальном мире, а глубоких guild-механик на рынке мало.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ED5A84-AEFF-4273-8788-BB7639D5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33400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1B705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97DCF9-31AC-4A5E-AA55-0505164B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2405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90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CAPTURE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315495-00D7-49A8-BC4C-7C9793D8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71700"/>
            <a:ext cx="480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Пройденный или пробежанный замкнутый маршрут захватывает территорию на карте.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2357C1-51AD-4E01-ABFC-9614797C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81350"/>
            <a:ext cx="533400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1B705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23EF51-5CC4-4209-9CAE-B1D89960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3375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90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GUILDS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C201F-5242-4A49-91D0-4525DD42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81400"/>
            <a:ext cx="480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Guild-команды до 10 человек соревнуются в рейтингах и еженедельных турнирах.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E58687-BB4F-4B3B-AF53-9A21054E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91050"/>
            <a:ext cx="533400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1B705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ED793A-4A26-473A-B7EA-B82F04DC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4345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90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PLATFORM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F4FCC2-50F0-4F89-95F0-145D238F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91100"/>
            <a:ext cx="480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Одна платформа объединяет фитнес, социальную игру и активности локальных брендов.</a:t>
            </a:r>
          </a:p>
        </p:txBody>
      </p:sp>
    </p:spTree>
    <p:extLst>
      <p:ext uri="{BB962C8B-B14F-4D97-AF65-F5344CB8AC3E}">
        <p14:creationId xmlns:p14="http://schemas.microsoft.com/office/powerpoint/2010/main" val="11277784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144D1F-30F9-48E2-B628-871B1AB3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DON'T STOP  /  INVESTOR DECK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7AE15-1389-48E5-ABD3-A1E16448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D8C3F3-D45A-4620-B8EC-20154690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125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Как работает продукт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F7771A-2585-41BB-A22D-009A1B16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00200"/>
            <a:ext cx="3505200" cy="39814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F1EABD-83C4-4AF4-86DA-0C3E4D4E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1  МАРШРУТ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24A80C-048E-40A8-9870-896B7765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30099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GPS проверяет замкнутый контур и расстояние до точки соединения.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B0B750-6C16-4F52-9719-D6EE9DB3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8620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1611"/>
          </a:solidFill>
          <a:ln xmlns:a="http://schemas.openxmlformats.org/drawingml/2006/main" w="28575">
            <a:solidFill>
              <a:srgbClr val="20E6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41E32D-939C-41E5-9A2F-10C2C831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419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E6A1"/>
          </a:solidFill>
          <a:ln xmlns:a="http://schemas.openxmlformats.org/drawingml/2006/main" w="0">
            <a:solidFill>
              <a:srgbClr val="20E6A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2CA5E3-02CE-4463-9577-954C138B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00200"/>
            <a:ext cx="3505200" cy="39814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10281E"/>
          </a:solidFill>
          <a:ln xmlns:a="http://schemas.openxmlformats.org/drawingml/2006/main" w="9525">
            <a:solidFill>
              <a:srgbClr val="FFB5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34A11-B676-44EF-80E0-2737A8A5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4785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2  ТЕРРИТОРИЯ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25D81-707A-4205-A50D-02AAE6F6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81250"/>
            <a:ext cx="30099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Площадь внутри подтверждённого контура закрепляется на карте.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1C21E9-AF06-4D74-80E6-E4D08F35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86200"/>
            <a:ext cx="1428750" cy="142875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D2114"/>
          </a:solidFill>
          <a:ln xmlns:a="http://schemas.openxmlformats.org/drawingml/2006/main" w="28575">
            <a:solidFill>
              <a:srgbClr val="FFB54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B5B031-5B79-44BB-A753-0A7815BF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305300"/>
            <a:ext cx="74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+1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3F9AE-107F-4F9A-987B-BB8EA751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600200"/>
            <a:ext cx="3505200" cy="39814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497140-D645-4821-A947-E5E3BEE3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84785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3  GUILD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CD36BE-05A3-4C45-9E9A-A39B6764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81250"/>
            <a:ext cx="30099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Команда защищает территорию и набирает очки в недельном рейтинге.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83669A-F400-4344-B473-D42F64BB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343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E6A1"/>
          </a:solidFill>
          <a:ln xmlns:a="http://schemas.openxmlformats.org/drawingml/2006/main" w="19050">
            <a:solidFill>
              <a:srgbClr val="07110D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25978E-CDB8-4B93-990D-78820E51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5720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547"/>
          </a:solidFill>
          <a:ln xmlns:a="http://schemas.openxmlformats.org/drawingml/2006/main" w="19050">
            <a:solidFill>
              <a:srgbClr val="07110D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049CC4-DFD4-4513-AD86-938E605A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343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E6A1"/>
          </a:solidFill>
          <a:ln xmlns:a="http://schemas.openxmlformats.org/drawingml/2006/main" w="19050">
            <a:solidFill>
              <a:srgbClr val="07110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ACE110-0A80-41E3-A219-D49DA940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1112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GPS  •  POSTGIS  •  MAPLIBRE GL</a:t>
            </a:r>
          </a:p>
        </p:txBody>
      </p:sp>
    </p:spTree>
    <p:extLst>
      <p:ext uri="{BB962C8B-B14F-4D97-AF65-F5344CB8AC3E}">
        <p14:creationId xmlns:p14="http://schemas.microsoft.com/office/powerpoint/2010/main" val="9864217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BF5FB0-12D3-48C6-9B64-C86F3FA1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DON'T STOP  /  INVESTOR DECK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B2FEE-D683-4479-BB97-39D09BE6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A11652-69FD-42F8-B5A2-0B3D16D2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125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Почему пользователи возвращаются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BBC43F-D9CA-40B4-A3EB-3F60C523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5257800" cy="1752600"/>
          </a:xfrm>
          <a:prstGeom xmlns:a="http://schemas.openxmlformats.org/drawingml/2006/main" prst="roundRect">
            <a:avLst>
              <a:gd name="adj" fmla="val 11957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0E6A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1B2CC9-9EB8-43B9-94CB-F900A09A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472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НЕДЕЛЬНЫЙ ЦИКЛ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24F07-6B39-4C1B-9EDD-5ECED9F5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4724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Борьба за территорию создаёт новую цель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CC42B5-61C7-49DF-93C8-BC40D3E6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5257800" cy="1752600"/>
          </a:xfrm>
          <a:prstGeom xmlns:a="http://schemas.openxmlformats.org/drawingml/2006/main" prst="roundRect">
            <a:avLst>
              <a:gd name="adj" fmla="val 11957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59B81-0927-4CE0-9AA2-5753D8DB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09750"/>
            <a:ext cx="472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КОМАНДНАЯ МОТИВАЦИЯ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38122-7B52-43E7-9AD4-9D421976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4724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Результат guild зависит от активности участников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B77A46-EF1B-4E32-8311-E8360522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5257800" cy="1752600"/>
          </a:xfrm>
          <a:prstGeom xmlns:a="http://schemas.openxmlformats.org/drawingml/2006/main" prst="roundRect">
            <a:avLst>
              <a:gd name="adj" fmla="val 11957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F52602-1802-4F1E-9484-8EC5D969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472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ПЕРСОНАЛИЗАЦИЯ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A34F53-A54D-422B-870D-31DE2A0D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4724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Эмблемы, аватары и эффекты дают статус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2839B2-31F6-4FFF-8DD7-ECBB657B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14750"/>
            <a:ext cx="5257800" cy="1752600"/>
          </a:xfrm>
          <a:prstGeom xmlns:a="http://schemas.openxmlformats.org/drawingml/2006/main" prst="roundRect">
            <a:avLst>
              <a:gd name="adj" fmla="val 11957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F2B948-16A8-4BDD-BC38-38AE1C72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43350"/>
            <a:ext cx="472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БЕЗОПАСНОСТЬ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2AF4A1-239A-4A05-B9FA-82DD0101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24350"/>
            <a:ext cx="4724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Радиус приватности 200 м и анти-телепорт</a:t>
            </a:r>
          </a:p>
        </p:txBody>
      </p:sp>
    </p:spTree>
    <p:extLst>
      <p:ext uri="{BB962C8B-B14F-4D97-AF65-F5344CB8AC3E}">
        <p14:creationId xmlns:p14="http://schemas.microsoft.com/office/powerpoint/2010/main" val="21285586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E4DB26-DCDD-4EC0-BA15-37D36C49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DON'T STOP  /  INVESTOR DECK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F904B-1658-401F-A07D-5CCA8FD3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CB690-BE25-4E95-9456-41F6FAF0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125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Модель монетизации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BBA68D-6EED-422B-95D2-03062297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2552700" cy="3714750"/>
          </a:xfrm>
          <a:prstGeom xmlns:a="http://schemas.openxmlformats.org/drawingml/2006/main" prst="roundRect">
            <a:avLst>
              <a:gd name="adj" fmla="val 8209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7825C-9BC1-4663-9E01-1A7105A3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669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88D240-FFDD-4930-BC0D-573F268F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BATTLE 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D06440-063C-4FF7-8590-95A5D9E8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2095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Следы, эмблемы и темы карты</a:t>
            </a:r>
          </a:p>
          <a:p xmlns:a="http://schemas.openxmlformats.org/drawingml/2006/main">
            <a:pPr>
              <a:def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$4.99 / месяц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C7BEB-EF3F-447E-9C97-112282D0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38300"/>
            <a:ext cx="2552700" cy="3714750"/>
          </a:xfrm>
          <a:prstGeom xmlns:a="http://schemas.openxmlformats.org/drawingml/2006/main" prst="roundRect">
            <a:avLst>
              <a:gd name="adj" fmla="val 8209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D938A9-EFC7-4617-8CDF-0CC992B2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669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38E404-7467-4B70-A480-8D947785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193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МИКРОТРАНЗАКЦИИ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33289B-4B18-45B4-8EBF-06C15E83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143250"/>
            <a:ext cx="2095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Аватары, guild-токены и смена имени</a:t>
            </a:r>
          </a:p>
          <a:p xmlns:a="http://schemas.openxmlformats.org/drawingml/2006/main">
            <a:pPr>
              <a:def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$0.99–$9.99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733338-4EA5-42DC-BA4B-5BD60A9C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38300"/>
            <a:ext cx="2552700" cy="3714750"/>
          </a:xfrm>
          <a:prstGeom xmlns:a="http://schemas.openxmlformats.org/drawingml/2006/main" prst="roundRect">
            <a:avLst>
              <a:gd name="adj" fmla="val 8209"/>
            </a:avLst>
          </a:prstGeom>
          <a:solidFill xmlns:a="http://schemas.openxmlformats.org/drawingml/2006/main">
            <a:srgbClr val="2A2112"/>
          </a:solidFill>
          <a:ln xmlns:a="http://schemas.openxmlformats.org/drawingml/2006/main" w="9525">
            <a:solidFill>
              <a:srgbClr val="FFB54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E83566-C03E-421F-BF47-55AA4F1A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669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325E4D-A45D-45A3-8302-BB36028A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193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БРЕНД-ПАРТНЁРСТВА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043A73-A26D-4D34-83AA-E18C7E0E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43250"/>
            <a:ext cx="2095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Спонсорские зоны и турниры</a:t>
            </a:r>
          </a:p>
          <a:p xmlns:a="http://schemas.openxmlformats.org/drawingml/2006/main">
            <a:pPr>
              <a:def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$2K–$10K / событие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694D02-B2C9-42FD-B18C-C5864E28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38300"/>
            <a:ext cx="2552700" cy="3714750"/>
          </a:xfrm>
          <a:prstGeom xmlns:a="http://schemas.openxmlformats.org/drawingml/2006/main" prst="roundRect">
            <a:avLst>
              <a:gd name="adj" fmla="val 8209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2C2D2B-7D96-4471-B813-50695752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669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627610-156B-4BA1-8AFE-631A4711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193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B2B-АНАЛИТИКА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BF12D5-6A6F-4685-AF1E-83BD8F3D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43250"/>
            <a:ext cx="2095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985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Анонимные данные о городской активности</a:t>
            </a:r>
          </a:p>
          <a:p xmlns:a="http://schemas.openxmlformats.org/drawingml/2006/main">
            <a:pPr>
              <a:def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После подтверждения пилотом</a:t>
            </a:r>
          </a:p>
        </p:txBody>
      </p:sp>
    </p:spTree>
    <p:extLst>
      <p:ext uri="{BB962C8B-B14F-4D97-AF65-F5344CB8AC3E}">
        <p14:creationId xmlns:p14="http://schemas.microsoft.com/office/powerpoint/2010/main" val="7332331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0C6D76-C4D9-440D-A584-01780211C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DON'T STOP  /  INVESTOR DECK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FBE8D3-3E20-43A5-89D9-51BFCA84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2DF943-27C4-4734-9E78-EEA24EE8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125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План роста на 3 года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614A0-12E9-4630-B2AB-E8D95CE7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4513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FA718-E079-4A99-A21D-C67A9EF8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E6A1"/>
          </a:solidFill>
          <a:ln xmlns:a="http://schemas.openxmlformats.org/drawingml/2006/main" w="0">
            <a:solidFill>
              <a:srgbClr val="20E6A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5EFEBF-555B-46C5-8CE1-A39E5470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3 МЕС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5BC3C0-C585-441C-8447-F502DDBD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1981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Пилот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834DF5-9E37-493A-A0FC-551322E8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198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Нукус и Ташкент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F8F9D0-AF7D-4A6A-A8A1-6A40A865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624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15K пользователей*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00912-3412-405D-AA2D-5330E4A8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E6A1"/>
          </a:solidFill>
          <a:ln xmlns:a="http://schemas.openxmlformats.org/drawingml/2006/main" w="0">
            <a:solidFill>
              <a:srgbClr val="20E6A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3B286-8E2F-45D8-9ED1-3B2568E5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811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6 МЕС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F89C39-1034-4EB3-9686-26198DB9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924050"/>
            <a:ext cx="1981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2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Региональный тест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32E9A0-DC54-443E-BCE2-AC3FD254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33750"/>
            <a:ext cx="198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Самарканд, Алматы, Шымкент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14C518-7647-4C2A-BB70-5DA0BA56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9624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75K пользователей*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6B62B-3ED0-4C74-BBA8-AA618302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E6A1"/>
          </a:solidFill>
          <a:ln xmlns:a="http://schemas.openxmlformats.org/drawingml/2006/main" w="0">
            <a:solidFill>
              <a:srgbClr val="20E6A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543036-2C7F-4BD0-A027-2602A862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5811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1 ГОД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0E301C-5E36-491A-983D-487D9465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24050"/>
            <a:ext cx="1981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32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Несколько стран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E0824-9357-422A-9915-C1253051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33750"/>
            <a:ext cx="198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Стамбул, Астана, Баку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BE6EC6-9200-432A-B518-7C9E9BE7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624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300K пользователей*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8F74AD-144D-4214-A6F7-1C4679F6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E6A1"/>
          </a:solidFill>
          <a:ln xmlns:a="http://schemas.openxmlformats.org/drawingml/2006/main" w="0">
            <a:solidFill>
              <a:srgbClr val="20E6A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C699EF-5E16-4B14-9F3E-1F094D48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811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2 ГОДА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3B5BF7-8D04-47B7-BC8C-8CDECD30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24050"/>
            <a:ext cx="1981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Расширение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FFB3C8-71D6-4080-BD5C-07A5B558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33750"/>
            <a:ext cx="198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MENA и Восточная Европа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9D32AB-4770-4BF5-A776-0B04F19A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624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1.2M пользователей*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1A0982-4981-47CB-B608-D5A80F42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547"/>
          </a:solidFill>
          <a:ln xmlns:a="http://schemas.openxmlformats.org/drawingml/2006/main" w="0">
            <a:solidFill>
              <a:srgbClr val="FFB54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1E275D-C2B9-4874-A53A-FDF571D2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5811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3 ГОДА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A3DF9B-85F9-448C-8DF5-217CED35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24050"/>
            <a:ext cx="1981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Экосистема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9BA427-B50E-4E91-847D-6BD8AA35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333750"/>
            <a:ext cx="198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Глобальные B2B-спонсоры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363F09-825B-4993-8672-CCB4E455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9624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$4M+ выручки в год*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2C792F-F06D-4DAB-8C11-F2DE087C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29300"/>
            <a:ext cx="1112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* Целевые показатели. Будут пересмотрены по итогам пилота.</a:t>
            </a:r>
          </a:p>
        </p:txBody>
      </p:sp>
    </p:spTree>
    <p:extLst>
      <p:ext uri="{BB962C8B-B14F-4D97-AF65-F5344CB8AC3E}">
        <p14:creationId xmlns:p14="http://schemas.microsoft.com/office/powerpoint/2010/main" val="96324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352B8A-A684-43AB-9023-BE9D3FD1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DON'T STOP  /  INVESTOR DECK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BE9F0-2D06-4BFB-864E-861ED1E7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113334-78F8-4BB0-9A3D-140E8411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125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Использование инвестиций $50 000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C827D-DAED-4632-BBE6-8AD6EA49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3314700" cy="44767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2251C"/>
          </a:solidFill>
          <a:ln xmlns:a="http://schemas.openxmlformats.org/drawingml/2006/main" w="9525">
            <a:solidFill>
              <a:srgbClr val="FFB54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1FAE75-6371-4B85-BE17-24BC13E7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47850"/>
            <a:ext cx="2781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16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$50 000 PRE-SEED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A489A6-FF4E-4BED-BD13-ADD24D4B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27813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✓  12 месяцев runway</a:t>
            </a:r>
          </a:p>
          <a:p xmlns:a="http://schemas.openxmlformats.org/drawingml/2006/main">
            <a:pPr>
              <a:defRPr sz="1275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✓  Релиз Android APK/AAB</a:t>
            </a:r>
          </a:p>
          <a:p xmlns:a="http://schemas.openxmlformats.org/drawingml/2006/main">
            <a:pPr>
              <a:defRPr sz="1275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✓  5 ключевых ролей</a:t>
            </a:r>
          </a:p>
          <a:p xmlns:a="http://schemas.openxmlformats.org/drawingml/2006/main">
            <a:pPr>
              <a:defRPr sz="1275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✓  Серверная и картографическая инфраструктура</a:t>
            </a:r>
          </a:p>
          <a:p xmlns:a="http://schemas.openxmlformats.org/drawingml/2006/main">
            <a:pPr>
              <a:defRPr sz="1275" b="0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✓  Пилоты с вузами и инфлюенсерами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7C2159-E473-4342-A5D1-3EDF8D8B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24000"/>
            <a:ext cx="74676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0F07E7-FCEA-460E-86E6-0967CB54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002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BACKEND И SPATIAL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B463BC-EB3F-4A00-9992-2B477C29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0020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$12K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7E8801-10E8-4CA3-A33C-9E8BB1B9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160020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24%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8EB23-13E2-454C-BC12-249C0A3D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66950"/>
            <a:ext cx="74676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C50832-15D6-4264-9E73-CE994668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FRONTEND И MOBILE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3D86D1-CECF-4544-9C81-564A4A83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4315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$10K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DC9371-F5F0-48BA-8B2D-CFEA1204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34315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20%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D00264-202A-4D2E-9FEC-67DE3E70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09900"/>
            <a:ext cx="74676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C77B56-F97C-4963-ACE8-2545AF46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86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GAME / SPATIAL ENGINEERING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0D1C13-53B7-4B6A-B3DE-253BA4BA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08610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$10K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099AD-6E7B-431A-9B11-A4A64973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08610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20%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82BCA2-D1BB-4891-9966-EE2F248A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74676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C96E90-FF44-4748-B8C0-B5128B88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29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БРЕНД И ДИЗАЙН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2718BE-DC6D-4671-9AD5-8D3056AB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2905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$6K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29010-4CD7-4E1C-9049-235AFC67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2905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12%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62188A-5E11-4A1F-AA43-7A9D4DDC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495800"/>
            <a:ext cx="74676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475246-72C5-481D-9924-328E138A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720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МАРКЕТИНГ И COMMUNITY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EF441E-D3A8-4938-8E59-91857A66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7200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$7K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65C301-D038-4E28-91D8-80656C62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57200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14%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C28381-9BBC-490D-B031-611D681D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238750"/>
            <a:ext cx="74676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E6D237-F2FD-4FEE-81F0-D90A6E64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3149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СЕРВЕРЫ, LEGAL, РЕЗЕРВ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101806-4030-4099-A7C4-380A8731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31495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$5K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D03D3D-4F11-4B60-B81D-72A225E3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31495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10%</a:t>
            </a:r>
          </a:p>
        </p:txBody>
      </p:sp>
    </p:spTree>
    <p:extLst>
      <p:ext uri="{BB962C8B-B14F-4D97-AF65-F5344CB8AC3E}">
        <p14:creationId xmlns:p14="http://schemas.microsoft.com/office/powerpoint/2010/main" val="14379493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C01DC3-143F-4DB8-8F60-8166320A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DON'T STOP  /  INVESTOR DECK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BB27C-0B79-45BF-801D-2F573D6D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939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2B0C74-040C-4E51-9265-D2B60C79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125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Готовая технологическая база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5189E8-1EFA-477A-806A-DD55C61F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3352800" cy="1714500"/>
          </a:xfrm>
          <a:prstGeom xmlns:a="http://schemas.openxmlformats.org/drawingml/2006/main" prst="roundRect">
            <a:avLst>
              <a:gd name="adj" fmla="val 12222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0E6A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0FBF95-C4AF-4FF9-8CBE-A754ACCE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71650"/>
            <a:ext cx="289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РАБОЧИЙ WEB ENGINE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CB9A1-9E28-4A2C-AF8C-8C9B8334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2895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FastAPI + PostGIS + MapLibre GL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FBBFE-9D4D-4407-A16B-2B6F80DE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562100"/>
            <a:ext cx="3352800" cy="1714500"/>
          </a:xfrm>
          <a:prstGeom xmlns:a="http://schemas.openxmlformats.org/drawingml/2006/main" prst="roundRect">
            <a:avLst>
              <a:gd name="adj" fmla="val 12222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040C9-8285-4775-BD27-E1698B0E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771650"/>
            <a:ext cx="289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105 АВТОТЕСТОВ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EB4062-CE98-4C7A-9504-EAAEC5B5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09800"/>
            <a:ext cx="2895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Unit и integration покрытие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8230AE-9326-425D-A7AA-DED56000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62100"/>
            <a:ext cx="3352800" cy="1714500"/>
          </a:xfrm>
          <a:prstGeom xmlns:a="http://schemas.openxmlformats.org/drawingml/2006/main" prst="roundRect">
            <a:avLst>
              <a:gd name="adj" fmla="val 12222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9B194-6F68-49EA-9ABE-CEBC0C4C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71650"/>
            <a:ext cx="289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MOBILE PIPELINE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536704-AB9D-462A-9EB7-4379A680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9800"/>
            <a:ext cx="2895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React + Vite + Capacitor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5D134E-D253-43CE-9042-FC9D8D32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714750"/>
            <a:ext cx="3581400" cy="1714500"/>
          </a:xfrm>
          <a:prstGeom xmlns:a="http://schemas.openxmlformats.org/drawingml/2006/main" prst="roundRect">
            <a:avLst>
              <a:gd name="adj" fmla="val 12222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0A4B39-8DAB-4E49-9A20-5647097C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92430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ANTI-CHEAT И PRIVACY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632BF1-E9A6-4FD7-8A03-FFF14AF1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362450"/>
            <a:ext cx="3124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Анти-телепорт и радиус 200 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8C496-1590-4722-8AE4-1D1BBC8E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14750"/>
            <a:ext cx="3581400" cy="1714500"/>
          </a:xfrm>
          <a:prstGeom xmlns:a="http://schemas.openxmlformats.org/drawingml/2006/main" prst="roundRect">
            <a:avLst>
              <a:gd name="adj" fmla="val 12222"/>
            </a:avLst>
          </a:prstGeom>
          <a:solidFill xmlns:a="http://schemas.openxmlformats.org/drawingml/2006/main">
            <a:srgbClr val="0D1D17"/>
          </a:solidFill>
          <a:ln xmlns:a="http://schemas.openxmlformats.org/drawingml/2006/main" w="9525">
            <a:solidFill>
              <a:srgbClr val="24513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EAABEE-7093-4E74-9773-1B2D98FE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2430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5 ЯЗЫКОВ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F3B859-AD6D-481A-8E16-FE21A33A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62450"/>
            <a:ext cx="3124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QQ, UZ, KK, TR, EN</a:t>
            </a:r>
          </a:p>
        </p:txBody>
      </p:sp>
    </p:spTree>
    <p:extLst>
      <p:ext uri="{BB962C8B-B14F-4D97-AF65-F5344CB8AC3E}">
        <p14:creationId xmlns:p14="http://schemas.microsoft.com/office/powerpoint/2010/main" val="6813431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c0c835639e46e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8FD3F8-5BA2-4195-83F5-292E0EB5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0D">
              <a:alpha val="4600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6984B2-245D-4781-A93A-5B17888B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104900"/>
            <a:ext cx="7810500" cy="4648200"/>
          </a:xfrm>
          <a:prstGeom xmlns:a="http://schemas.openxmlformats.org/drawingml/2006/main" prst="roundRect">
            <a:avLst>
              <a:gd name="adj" fmla="val 6148"/>
            </a:avLst>
          </a:prstGeom>
          <a:solidFill xmlns:a="http://schemas.openxmlformats.org/drawingml/2006/main">
            <a:srgbClr val="07110D">
              <a:alpha val="80000"/>
            </a:srgbClr>
          </a:solidFill>
          <a:ln xmlns:a="http://schemas.openxmlformats.org/drawingml/2006/main" w="9525">
            <a:solidFill>
              <a:srgbClr val="20E6A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EFBC02-B169-4B45-BB37-75E6C773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90700"/>
            <a:ext cx="6819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77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4FFF9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F4FFF9"/>
                </a:solidFill>
                <a:latin typeface="DejaVu Sans"/>
                <a:ea typeface="DejaVu Sans"/>
                <a:cs typeface="DejaVu Sans"/>
              </a:rPr>
              <a:t>Город приходит в движение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FA69EF-822A-4F94-8ACF-697C2760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647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C1B5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A8C1B5"/>
                </a:solidFill>
                <a:latin typeface="DejaVu Sans"/>
                <a:ea typeface="DejaVu Sans"/>
                <a:cs typeface="DejaVu Sans"/>
              </a:rPr>
              <a:t>Превращаем ходьбу и бег в командную игру городского масштаба.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AEC97C-7B9C-49D2-BE01-14C7F15B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B54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FFB547"/>
                </a:solidFill>
                <a:latin typeface="DejaVu Sans"/>
                <a:ea typeface="DejaVu Sans"/>
                <a:cs typeface="DejaVu Sans"/>
              </a:rPr>
              <a:t>$50 000 PRE-SEED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1FA4D5-17C4-46CA-A625-18B3A92E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629150"/>
            <a:ext cx="617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E6A1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0E6A1"/>
                </a:solidFill>
                <a:latin typeface="DejaVu Sans"/>
                <a:ea typeface="DejaVu Sans"/>
                <a:cs typeface="DejaVu Sans"/>
              </a:rPr>
              <a:t>WEB ENGINE ГОТОВ  •  СЛЕДУЮЩИЙ ШАГ: MOBILE PILOT</a:t>
            </a:r>
          </a:p>
        </p:txBody>
      </p:sp>
    </p:spTree>
    <p:extLst>
      <p:ext uri="{BB962C8B-B14F-4D97-AF65-F5344CB8AC3E}">
        <p14:creationId xmlns:p14="http://schemas.microsoft.com/office/powerpoint/2010/main" val="18170499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2026-09-25T04:20:48.4440000Z</dcterms:created>
  <dcterms:modified xsi:type="dcterms:W3CDTF">2026-09-25T04:20:48.4440000Z</dcterms:modified>
</coreProperties>
</file>