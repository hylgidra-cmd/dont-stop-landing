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2B24"/>
          </a:solidFill>
          <a:ln w="254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⚡ PRE-SEED PITCH DECK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534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E599"/>
                </a:solidFill>
              </a:defRPr>
            </a:pPr>
            <a:r>
              <a:t>DON'T STOP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The City Plays With You: Real Geolocation Territory Capture Game</a:t>
            </a:r>
          </a:p>
          <a:p>
            <a:pPr algn="ctr">
              <a:spcBef>
                <a:spcPts val="1000"/>
              </a:spcBef>
              <a:defRPr sz="1400">
                <a:solidFill>
                  <a:srgbClr val="A7BDB4"/>
                </a:solidFill>
              </a:defRPr>
            </a:pPr>
            <a:r>
              <a:t>Real-time strategy platform merging cardio running, walking, and clan warfare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📍 Active in 4 Cities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99"/>
                </a:solidFill>
              </a:defRPr>
            </a:pPr>
            <a:r>
              <a:t>🛡️ 10-Member Guilds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📱 Android APK + Web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663440"/>
            <a:ext cx="2011680" cy="502920"/>
          </a:xfrm>
          <a:prstGeom prst="roundRect">
            <a:avLst/>
          </a:prstGeom>
          <a:solidFill>
            <a:srgbClr val="193B3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🚀 Pre-Seed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Vision and Unique Value Proposition (UVP)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Next-generation geo-gaming at the intersection of fitness and esports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🎯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To transform daily running and healthy habits into an addictive urban esport. Inspiring youth to step outdoors and battle for physical city blocks instead of indoor screen gaming.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⭐ Unique 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Unlike dry trackers (Strava, Nike Run Club) showing only cold metrics, Don't Stop converts every meter run into captured m² territory on a live map and clan glory.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🔥 Current Status &amp; 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Fully functioning MVP: PostGIS spatial backend, Render cloud deployment, live Web map, and a 5.1 MB native Android APK tested in real urban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MARKET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Which Critical Problems Are We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Three major hurdles faced by modern urban runners and youth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123444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914400" cy="868680"/>
          </a:xfrm>
          <a:prstGeom prst="roundRect">
            <a:avLst/>
          </a:prstGeom>
          <a:solidFill>
            <a:srgbClr val="193B31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4B4B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48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Lack of Motivation and High Churn</a:t>
            </a:r>
          </a:p>
          <a:p>
            <a:pPr>
              <a:spcBef>
                <a:spcPts val="400"/>
              </a:spcBef>
              <a:defRPr sz="1200">
                <a:solidFill>
                  <a:srgbClr val="A7BDB4"/>
                </a:solidFill>
              </a:defRPr>
            </a:pPr>
            <a:r>
              <a:t>78% of people quit running within 2-3 weeks. Solitary workouts quickly become repetitive without social excitement and gamification.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10728655" cy="123444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3611880"/>
            <a:ext cx="914400" cy="868680"/>
          </a:xfrm>
          <a:prstGeom prst="roundRect">
            <a:avLst/>
          </a:prstGeom>
          <a:solidFill>
            <a:srgbClr val="193B31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B80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566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Boring Fitness Trackers</a:t>
            </a:r>
          </a:p>
          <a:p>
            <a:pPr>
              <a:spcBef>
                <a:spcPts val="400"/>
              </a:spcBef>
              <a:defRPr sz="1200">
                <a:solidFill>
                  <a:srgbClr val="A7BDB4"/>
                </a:solidFill>
              </a:defRPr>
            </a:pPr>
            <a:r>
              <a:t>Strava and Nike only show pace, distance, and calories. They lack competitive real-world territory gaming and social clan mechanics.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728655" cy="123444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5029200"/>
            <a:ext cx="914400" cy="868680"/>
          </a:xfrm>
          <a:prstGeom prst="roundRect">
            <a:avLst/>
          </a:prstGeom>
          <a:solidFill>
            <a:srgbClr val="193B3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E5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983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Sedentary Youth Lifestyles</a:t>
            </a:r>
          </a:p>
          <a:p>
            <a:pPr>
              <a:spcBef>
                <a:spcPts val="400"/>
              </a:spcBef>
              <a:defRPr sz="1200">
                <a:solidFill>
                  <a:srgbClr val="A7BDB4"/>
                </a:solidFill>
              </a:defRPr>
            </a:pPr>
            <a:r>
              <a:t>Young people spend 4-6 hours daily on indoor mobile games. They lack engaging incentives to exercise outdoors in the real world.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Don't Stop — Real Strategy on City Streets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Gaming thrill + Physical fitness + Clan team pride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🗺️ Loop Capture (Territory Claim)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Run a closed loop on city streets. The entire enclosed area (m²) is instantly awarded to you or your guild.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🛡️ 10-Member Guilds &amp; Vector Emblems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Strict 10-member limit, unique clan tags [TAG], and 10 vector emblems. Active teamwork always beats oversized clans.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🚩 Anchor Flag (Stem Preservation)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Drop a flag at your starting point, loop around, and close: the algorithm keeps your stem path while awarding the loop.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🎨 GPS-Art &amp; Trail 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92040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A7BDB4"/>
                </a:solidFill>
              </a:defRPr>
            </a:pPr>
            <a:r>
              <a:t>Transform running routes into artistic map drawings. Replay past runs with interactive trail visualizations.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GAMEPLAY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 Simple Steps to Conquer Your Neighborhood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Seamless user experience backed by strict spatial calculations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Pick Your Target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Open the map and target the district, park, or streets you want to conquer.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99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Start Running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Press Start. Background GPS records your path even with your phone screen turned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800"/>
                </a:solidFill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Close the Loop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Return to your origin or form a closed loop: Lollipop algorithm cuts the stem and seals the 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6840" y="2194560"/>
            <a:ext cx="219456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74320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Territory is Yours!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PostGIS subtracts buildings and restricted zones, computes clean m², and updates rankings.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Robust Tech Architecture &amp; Multi-Tier Anti-Cheat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Fair competition with zero tolerance for GPS spoofing and emulators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🛡️ Advanced Anti-Cheat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OS-level Mock GPS &amp; emulator detection</a:t>
            </a:r>
            <a:br/>
            <a:r>
              <a:t>• Teleport speed thresholds (&gt;15 m/s blocked)</a:t>
            </a:r>
            <a:br/>
            <a:r>
              <a:t>• Kalman filter &amp; EMA smoothing of GPS jitter</a:t>
            </a:r>
            <a:br/>
            <a:r>
              <a:t>• Transportation classifier (vehicles &amp; bikes excluded)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🗺️ PostGIS Spatial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ST_Difference removes buildings, schools, and military zones</a:t>
            </a:r>
            <a:br/>
            <a:r>
              <a:t>• Lollipop loop extractor preserves stems while claiming loops</a:t>
            </a:r>
            <a:br/>
            <a:r>
              <a:t>• Sub-second geodetic polygon area calculation (m²)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🔒 200m Privacy Radius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Configurable 200-meter safety zone around homes/offices</a:t>
            </a:r>
            <a:br/>
            <a:r>
              <a:t>• Track coordinates inside privacy zones are completely hidden</a:t>
            </a:r>
            <a:br/>
            <a:r>
              <a:t>• Uncompromising personal privacy and user 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⚡ Offline Buffer &amp; Foreground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00600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A7BDB4"/>
                </a:solidFill>
              </a:defRPr>
            </a:pPr>
            <a:r>
              <a:t>• Fixes buffered locally during network drops</a:t>
            </a:r>
            <a:br/>
            <a:r>
              <a:t>• Automatic sync upon reconnection</a:t>
            </a:r>
            <a:br/>
            <a:r>
              <a:t>• Battery-efficient Android foreground tracking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CURRENT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Don't Stop Today: 4 Active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Fully configured MVP running in 4 strategic hubs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99"/>
                </a:solidFill>
              </a:defRPr>
            </a:pPr>
            <a:r>
              <a:t>NUKUS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Karakalpakstan • Pilot Hub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Population: ~350,000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Initial testing grounds. Complete boundary mapping, building exclusions, and clan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TASHKENT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Capital of Uzbekistan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Population: ~3,000,000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Primary metropolitan market. Massive concentration of universities, runners, and tech talent.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</a:defRPr>
            </a:pPr>
            <a:r>
              <a:t>ALMATY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Major Kazakhstan Metropolis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Population: ~2,200,000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Top sporting hub in Central Asia with high outdoor culture and established marathon scenes.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ISTANBUL</a:t>
            </a:r>
          </a:p>
          <a:p>
            <a:pPr>
              <a:spcBef>
                <a:spcPts val="200"/>
              </a:spcBef>
              <a:defRPr sz="1000">
                <a:solidFill>
                  <a:srgbClr val="A7BDB4"/>
                </a:solidFill>
              </a:defRPr>
            </a:pPr>
            <a:r>
              <a:t>Global Megacity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👥 Population: ~16,000,000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A7BDB4"/>
                </a:solidFill>
              </a:defRPr>
            </a:pPr>
            <a:r>
              <a:t>Bridge between Europe and Asia. Gateway for future global expansion.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Next Scale: High-Density Strategic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Expansion roadmap across Uzbekistan and Central Asian capitals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🇺🇿 Key Cities in Uzbekistan (Phase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Samarkand (~600,000): Major tourist and youth center with active running clubs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Namangan (~700,000): Second largest city in Uzbekistan by population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Andijan (~450,000): Highest population density in the region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Bukhara (~300,000): Rich urban parks and high outdoor walking traffic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Fergana (~350,000): Vibrant youth demographics and sport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🌏 Central Asian Capitals (Phase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60320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Astana (Kazakhstan) (~1,400,000): Capital city, wide boulevards, major marathon events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Shymkent (Kazakhstan) (~1,200,000): Booming southern metropolis with mild running climate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Bishkek (Kyrgyzstan) (~1,150,000): Strong outdoor and trail running community</a:t>
            </a:r>
          </a:p>
          <a:p>
            <a:pPr>
              <a:spcBef>
                <a:spcPts val="600"/>
              </a:spcBef>
              <a:defRPr sz="1100">
                <a:solidFill>
                  <a:srgbClr val="A7BDB4"/>
                </a:solidFill>
              </a:defRPr>
            </a:pPr>
            <a:r>
              <a:t>• Dushanbe (Tajikistan) (~1,000,000): Rapidly growing capital with high youth ratio</a:t>
            </a:r>
          </a:p>
          <a:p>
            <a:pPr>
              <a:spcBef>
                <a:spcPts val="1200"/>
              </a:spcBef>
              <a:defRPr sz="1100" b="1">
                <a:solidFill>
                  <a:srgbClr val="FFB800"/>
                </a:solidFill>
              </a:defRPr>
            </a:pPr>
            <a:r>
              <a:t>🎯 Why these hubs? Over 60% of population is under 30, high urban density, and over 90% 4G/5G mobile penetration.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Target Market: TAM, SAM, SOM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Riding the surge of fitness gamification and mobile 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TAM: $35.7 Billion</a:t>
            </a:r>
          </a:p>
          <a:p>
            <a:pPr>
              <a:spcBef>
                <a:spcPts val="400"/>
              </a:spcBef>
              <a:defRPr sz="1200">
                <a:solidFill>
                  <a:srgbClr val="FFB800"/>
                </a:solidFill>
              </a:defRPr>
            </a:pPr>
            <a:r>
              <a:t>Total Addressable Market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A7BDB4"/>
                </a:solidFill>
              </a:defRPr>
            </a:pPr>
            <a:r>
              <a:t>Global M-Health, mobile fitness apps, and gamified sport market growing at 17.6% CAGR.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SAM: $140 Million</a:t>
            </a:r>
          </a:p>
          <a:p>
            <a:pPr>
              <a:spcBef>
                <a:spcPts val="400"/>
              </a:spcBef>
              <a:defRPr sz="1200">
                <a:solidFill>
                  <a:srgbClr val="FFB800"/>
                </a:solidFill>
              </a:defRPr>
            </a:pPr>
            <a:r>
              <a:t>Serviceable Addressable Market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A7BDB4"/>
                </a:solidFill>
              </a:defRPr>
            </a:pPr>
            <a:r>
              <a:t>Active smartphone users aged 16–35 in Central Asia, CIS, and Turkey interested in fitness.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38328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599"/>
                </a:solidFill>
              </a:defRPr>
            </a:pPr>
            <a:r>
              <a:t>SOM: $15 Million</a:t>
            </a:r>
          </a:p>
          <a:p>
            <a:pPr>
              <a:spcBef>
                <a:spcPts val="400"/>
              </a:spcBef>
              <a:defRPr sz="1200">
                <a:solidFill>
                  <a:srgbClr val="FFB800"/>
                </a:solidFill>
              </a:defRPr>
            </a:pPr>
            <a:r>
              <a:t>Serviceable Obtainable Market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200">
                <a:solidFill>
                  <a:srgbClr val="A7BDB4"/>
                </a:solidFill>
              </a:defRPr>
            </a:pPr>
            <a:r>
              <a:t>Target 1.5M+ active users and localized B2B sponsorships in Uzbekistan and Kazakhstan.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Monetization and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A balanced mix of Freemium, B2B sponsorships, and corporate wellness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01. Freemium &amp; Battle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Free core gameplay for all runners</a:t>
            </a:r>
            <a:br/>
            <a:r>
              <a:t>• Battle Pass ($2.99 / mo): Seasonal quests and rewards</a:t>
            </a:r>
            <a:br/>
            <a:r>
              <a:t>• Premium ($4.99 / mo): Advanced telemetry &amp; unlimited privacy zones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02. In-App Purchases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Exclusive vector guild emblems and colors</a:t>
            </a:r>
            <a:br/>
            <a:r>
              <a:t>• Custom flags and runner avatar modifications</a:t>
            </a:r>
            <a:br/>
            <a:r>
              <a:t>• In-game tactical consumables for territory defense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03. B2B Geo-Sponsorships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Sponsored territories for cafes, fitness shops, and brands</a:t>
            </a:r>
            <a:br/>
            <a:r>
              <a:t>• Location-based promo discounts for runners</a:t>
            </a:r>
            <a:br/>
            <a:r>
              <a:t>• Branded tournaments with RedBull, Nike, and local retailers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80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04. Corporate Wellness Leagues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4800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A7BDB4"/>
                </a:solidFill>
              </a:defRPr>
            </a:pPr>
            <a:r>
              <a:t>• B2B wellness subscriptions for companies competing in inter-corporate city leagues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Don't Stop Competitive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Benchmarked against fitness and geo-gaming market leaders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11680"/>
              </a:tblGrid>
              <a:tr h="82296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D1F1A"/>
                          </a:solidFill>
                        </a:defRPr>
                      </a:pPr>
                      <a:r>
                        <a:t>Don't Stop</a:t>
                      </a:r>
                    </a:p>
                  </a:txBody>
                  <a:tcPr>
                    <a:solidFill>
                      <a:srgbClr val="00E5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Strava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Nike Run Club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Pokemon GO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Real Territory Claim (m²)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Yes (Real-Time)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⚠️ Points only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10-Member Clan Wars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Yes (Emblems)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Groups only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⚠️ 3 Factions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Anti-Cheat &amp; Spoof Guard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Multi-Tiered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Basic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E599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Local Languages &amp; Pricing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✅ Full (UZ/RU/EN)</a:t>
                      </a:r>
                    </a:p>
                  </a:txBody>
                  <a:tcPr>
                    <a:solidFill>
                      <a:srgbClr val="193B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Western pricing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Global only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7BDB4"/>
                          </a:solidFill>
                        </a:defRPr>
                      </a:pPr>
                      <a:r>
                        <a:t>❌ No local pricing</a:t>
                      </a:r>
                    </a:p>
                  </a:txBody>
                  <a:tcPr>
                    <a:solidFill>
                      <a:srgbClr val="122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Growth and Scaling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Phased development trajectory from 3 months to 5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3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MVP &amp; Beta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Beta launch in Uzbekistan (5,000 users)</a:t>
            </a:r>
            <a:br/>
            <a:r>
              <a:t>• Google Play &amp; App Store official release</a:t>
            </a:r>
            <a:br/>
            <a:r>
              <a:t>• Samarkand &amp; Namangan city launches</a:t>
            </a:r>
            <a:br/>
            <a:r>
              <a:t>• First community clan cups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99"/>
                </a:solidFill>
              </a:defRPr>
            </a:pPr>
            <a:r>
              <a:t>9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Monetization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50,000 Monthly Active Users (MAU)</a:t>
            </a:r>
            <a:br/>
            <a:r>
              <a:t>• Coverage across 8 major Uzbek cities</a:t>
            </a:r>
            <a:br/>
            <a:r>
              <a:t>• Launch Battle Pass &amp; in-app purchases</a:t>
            </a:r>
            <a:br/>
            <a:r>
              <a:t>• First 10 B2B brand partnerships ($5k MRR)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6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B800"/>
                </a:solidFill>
              </a:defRPr>
            </a:pPr>
            <a:r>
              <a:t>1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Central Asia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150,000 active runners</a:t>
            </a:r>
            <a:br/>
            <a:r>
              <a:t>• Expansion into Astana, Shymkent &amp; Bishkek</a:t>
            </a:r>
            <a:br/>
            <a:r>
              <a:t>• First International Don't Stop Championship</a:t>
            </a:r>
            <a:br/>
            <a:r>
              <a:t>• $25,000 Monthly Recurring Revenue (MRR)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CIS &amp; Turkey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1,000,000+ active players</a:t>
            </a:r>
            <a:br/>
            <a:r>
              <a:t>• Full expansion in Turkey &amp; Azerbaijan</a:t>
            </a:r>
            <a:br/>
            <a:r>
              <a:t>• AI personal running coach module</a:t>
            </a:r>
            <a:br/>
            <a:r>
              <a:t>• $250,000 Monthly Recurring Revenue (MRR)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011680"/>
            <a:ext cx="20574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4040" y="2194560"/>
            <a:ext cx="1783080" cy="411480"/>
          </a:xfrm>
          <a:prstGeom prst="roundRect">
            <a:avLst/>
          </a:prstGeom>
          <a:solidFill>
            <a:srgbClr val="193B31"/>
          </a:solidFill>
          <a:ln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E599"/>
                </a:solidFill>
              </a:defRPr>
            </a:pPr>
            <a:r>
              <a:t>5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Global Ecosystem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000">
                <a:solidFill>
                  <a:srgbClr val="A7BDB4"/>
                </a:solidFill>
              </a:defRPr>
            </a:pPr>
            <a:r>
              <a:t>• 5,000,000+ global runners</a:t>
            </a:r>
            <a:br/>
            <a:r>
              <a:t>• Expansion to Middle East &amp; Southeast Asia</a:t>
            </a:r>
            <a:br/>
            <a:r>
              <a:t>• World corporate fitness esport league</a:t>
            </a:r>
            <a:br/>
            <a:r>
              <a:t>• $1,500,000+ Monthly Recurring Revenue (MRR)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Funding Ask &amp; Capital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Targeting $25,000 – $50,000 Pre-Seed investment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99"/>
                </a:solidFill>
              </a:defRPr>
            </a:pPr>
            <a:r>
              <a:t>40%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Product &amp; R&amp;D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Native iOS application rollout</a:t>
            </a:r>
            <a:br/>
            <a:r>
              <a:t>• AI route generator &amp; anti-cheat ML model</a:t>
            </a:r>
            <a:br/>
            <a:r>
              <a:t>• Cloud scalability &amp; PostGIS cluster upgrades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E5FF"/>
                </a:solidFill>
              </a:defRPr>
            </a:pPr>
            <a:r>
              <a:t>35%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Marketing &amp; Growth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Partnerships with running clubs &amp; universities</a:t>
            </a:r>
            <a:br/>
            <a:r>
              <a:t>• Influencer campaigns &amp; marathon sponsorships</a:t>
            </a:r>
            <a:br/>
            <a:r>
              <a:t>• Prize pools for inaugural city tournaments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B800"/>
                </a:solidFill>
              </a:defRPr>
            </a:pPr>
            <a:r>
              <a:t>15%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Team Expansion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Additional mobile engineers (iOS/Android)</a:t>
            </a:r>
            <a:br/>
            <a:r>
              <a:t>• UI/UX designer &amp; Community Growth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94560"/>
            <a:ext cx="2286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Operations &amp; Legal</a:t>
            </a:r>
          </a:p>
          <a:p>
            <a:pPr>
              <a:lnSpc>
                <a:spcPct val="125000"/>
              </a:lnSpc>
              <a:spcBef>
                <a:spcPts val="1000"/>
              </a:spcBef>
              <a:defRPr sz="1100">
                <a:solidFill>
                  <a:srgbClr val="A7BDB4"/>
                </a:solidFill>
              </a:defRPr>
            </a:pPr>
            <a:r>
              <a:t>• Legal incorporation, IP protection</a:t>
            </a:r>
            <a:br/>
            <a:r>
              <a:t>• Map tile &amp; vector infrastructure licensing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9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Join the Movement — Move Your City With 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DB4"/>
                </a:solidFill>
              </a:defRPr>
            </a:pPr>
            <a:r>
              <a:t>Building a healthier society through next-generation gaming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943600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00E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🚀 Why Now is the Perfect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5394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Live MVP ready: Web &amp; Android APK in hand today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Booming running &amp; fitness culture in the region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60%+ youth demographics hungry for gamified competition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Strong B2B advertiser appetite for foot-traffic geo-marketing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✅ Low friction for regional expansion across Central Asia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011680"/>
            <a:ext cx="4510735" cy="4114800"/>
          </a:xfrm>
          <a:prstGeom prst="roundRect">
            <a:avLst/>
          </a:prstGeom>
          <a:solidFill>
            <a:srgbClr val="122B24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148840"/>
            <a:ext cx="41449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📱 Contacts &amp;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560320"/>
            <a:ext cx="4023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🌐 Website (Landing):</a:t>
            </a:r>
          </a:p>
          <a:p>
            <a:pPr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https://hylgidra-cmd.github.io/dont-stop-landing/</a:t>
            </a:r>
          </a:p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🗺️ Live Map (Demo):</a:t>
            </a:r>
          </a:p>
          <a:p>
            <a:pPr>
              <a:spcBef>
                <a:spcPts val="100"/>
              </a:spcBef>
              <a:defRPr sz="1100" b="1">
                <a:solidFill>
                  <a:srgbClr val="00E5FF"/>
                </a:solidFill>
              </a:defRPr>
            </a:pPr>
            <a:r>
              <a:t>https://qalarun-web.onrender.com</a:t>
            </a:r>
          </a:p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📱 Android APK:</a:t>
            </a:r>
          </a:p>
          <a:p>
            <a:pPr>
              <a:spcBef>
                <a:spcPts val="100"/>
              </a:spcBef>
              <a:defRPr sz="1100">
                <a:solidFill>
                  <a:srgbClr val="FFFFFF"/>
                </a:solidFill>
              </a:defRPr>
            </a:pPr>
            <a:r>
              <a:t>dontstop-debug.apk (In repository &amp; on GitHub)</a:t>
            </a:r>
          </a:p>
          <a:p>
            <a:pPr>
              <a:spcBef>
                <a:spcPts val="600"/>
              </a:spcBef>
              <a:defRPr sz="1200" b="1">
                <a:solidFill>
                  <a:srgbClr val="FFB800"/>
                </a:solidFill>
              </a:defRPr>
            </a:pPr>
            <a:r>
              <a:t>💬 Partnership:</a:t>
            </a:r>
          </a:p>
          <a:p>
            <a:pPr>
              <a:spcBef>
                <a:spcPts val="100"/>
              </a:spcBef>
              <a:defRPr sz="1100">
                <a:solidFill>
                  <a:srgbClr val="FFFFFF"/>
                </a:solidFill>
              </a:defRPr>
            </a:pPr>
            <a:r>
              <a:t>Always open for collaborations and investments!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