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2fa00582bb4e54" /><Relationship Type="http://schemas.openxmlformats.org/officeDocument/2006/relationships/extended-properties" Target="/docProps/app.xml" Id="R0b2af75d1ecb4ad3" /><Relationship Type="http://schemas.openxmlformats.org/officeDocument/2006/relationships/officeDocument" Target="/ppt/presentation.xml" Id="R169e4bc16bd744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2b768e1ba64055"/>
  </p:sldMasterIdLst>
  <p:notesMasterIdLst>
    <p:notesMasterId xmlns:r="http://schemas.openxmlformats.org/officeDocument/2006/relationships" r:id="Rbfeb42a6c34e4a45"/>
  </p:notesMasterIdLst>
  <p:sldIdLst>
    <p:sldId xmlns:r="http://schemas.openxmlformats.org/officeDocument/2006/relationships" id="256" r:id="R7c24b8906e6e49cc"/>
    <p:sldId xmlns:r="http://schemas.openxmlformats.org/officeDocument/2006/relationships" id="257" r:id="R820f6c0ddf834047"/>
    <p:sldId xmlns:r="http://schemas.openxmlformats.org/officeDocument/2006/relationships" id="258" r:id="R8a21930ba2eb483a"/>
    <p:sldId xmlns:r="http://schemas.openxmlformats.org/officeDocument/2006/relationships" id="259" r:id="Ra958b70c2df3446b"/>
    <p:sldId xmlns:r="http://schemas.openxmlformats.org/officeDocument/2006/relationships" id="260" r:id="R030a8d331a944a3f"/>
    <p:sldId xmlns:r="http://schemas.openxmlformats.org/officeDocument/2006/relationships" id="261" r:id="R3c94d8e72c294906"/>
    <p:sldId xmlns:r="http://schemas.openxmlformats.org/officeDocument/2006/relationships" id="262" r:id="R55644fc4bff24118"/>
    <p:sldId xmlns:r="http://schemas.openxmlformats.org/officeDocument/2006/relationships" id="263" r:id="R14700b6288284965"/>
    <p:sldId xmlns:r="http://schemas.openxmlformats.org/officeDocument/2006/relationships" id="264" r:id="R38aed1c66cf741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b904de0cb6403d" /><Relationship Type="http://schemas.openxmlformats.org/officeDocument/2006/relationships/slideMaster" Target="/ppt/slideMasters/slideMaster1.xml" Id="Ra22b768e1ba64055" /><Relationship Type="http://schemas.openxmlformats.org/officeDocument/2006/relationships/notesMaster" Target="/ppt/notesMasters/notesMaster1.xml" Id="Rbfeb42a6c34e4a45" /><Relationship Type="http://schemas.openxmlformats.org/officeDocument/2006/relationships/presProps" Target="/ppt/presProps.xml" Id="R2fcbe139c56046b0" /><Relationship Type="http://schemas.openxmlformats.org/officeDocument/2006/relationships/tableStyles" Target="/ppt/tableStyles.xml" Id="R9fb5cabd3dbe456c" /><Relationship Type="http://schemas.openxmlformats.org/officeDocument/2006/relationships/slide" Target="/ppt/slides/slide1.xml" Id="R7c24b8906e6e49cc" /><Relationship Type="http://schemas.openxmlformats.org/officeDocument/2006/relationships/slide" Target="/ppt/slides/slide2.xml" Id="R820f6c0ddf834047" /><Relationship Type="http://schemas.openxmlformats.org/officeDocument/2006/relationships/slide" Target="/ppt/slides/slide3.xml" Id="R8a21930ba2eb483a" /><Relationship Type="http://schemas.openxmlformats.org/officeDocument/2006/relationships/slide" Target="/ppt/slides/slide4.xml" Id="Ra958b70c2df3446b" /><Relationship Type="http://schemas.openxmlformats.org/officeDocument/2006/relationships/slide" Target="/ppt/slides/slide5.xml" Id="R030a8d331a944a3f" /><Relationship Type="http://schemas.openxmlformats.org/officeDocument/2006/relationships/slide" Target="/ppt/slides/slide6.xml" Id="R3c94d8e72c294906" /><Relationship Type="http://schemas.openxmlformats.org/officeDocument/2006/relationships/slide" Target="/ppt/slides/slide7.xml" Id="R55644fc4bff24118" /><Relationship Type="http://schemas.openxmlformats.org/officeDocument/2006/relationships/slide" Target="/ppt/slides/slide8.xml" Id="R14700b6288284965" /><Relationship Type="http://schemas.openxmlformats.org/officeDocument/2006/relationships/slide" Target="/ppt/slides/slide9.xml" Id="R38aed1c66cf741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31024bbba749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69e7342a67449e" /><Relationship Type="http://schemas.openxmlformats.org/officeDocument/2006/relationships/notesMaster" Target="/ppt/notesMasters/notesMaster1.xml" Id="R5210e8bd0264412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ed82c523eb4bfb" /><Relationship Type="http://schemas.openxmlformats.org/officeDocument/2006/relationships/notesMaster" Target="/ppt/notesMasters/notesMaster1.xml" Id="Rd2a3a931a77847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ba04b2cfd74920" /><Relationship Type="http://schemas.openxmlformats.org/officeDocument/2006/relationships/notesMaster" Target="/ppt/notesMasters/notesMaster1.xml" Id="R21a7be03efc847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c566c19dda4b66" /><Relationship Type="http://schemas.openxmlformats.org/officeDocument/2006/relationships/notesMaster" Target="/ppt/notesMasters/notesMaster1.xml" Id="R7a16279e3e4547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ebc9b40225474c" /><Relationship Type="http://schemas.openxmlformats.org/officeDocument/2006/relationships/notesMaster" Target="/ppt/notesMasters/notesMaster1.xml" Id="R505147e0d59c4d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5cf9947360413d" /><Relationship Type="http://schemas.openxmlformats.org/officeDocument/2006/relationships/notesMaster" Target="/ppt/notesMasters/notesMaster1.xml" Id="Rd891d57c44c2408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383deff3944d6f" /><Relationship Type="http://schemas.openxmlformats.org/officeDocument/2006/relationships/notesMaster" Target="/ppt/notesMasters/notesMaster1.xml" Id="Re973c2e0a8194b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ecaa8f856f49c9" /><Relationship Type="http://schemas.openxmlformats.org/officeDocument/2006/relationships/notesMaster" Target="/ppt/notesMasters/notesMaster1.xml" Id="Reccf2b9fab804b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e2c86acc04479d" /><Relationship Type="http://schemas.openxmlformats.org/officeDocument/2006/relationships/notesMaster" Target="/ppt/notesMasters/notesMaster1.xml" Id="Rfce0b277a4e844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d690dd563348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f3867a10f0471f" /><Relationship Type="http://schemas.openxmlformats.org/officeDocument/2006/relationships/slideLayout" Target="/ppt/slideLayouts/slideLayout1.xml" Id="R6bae7bf18bd34a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ae7bf18bd34a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71b1eb7c24fa9" /><Relationship Type="http://schemas.openxmlformats.org/officeDocument/2006/relationships/image" Target="/ppt/media/image.png" Id="R41f4a3c200ca4f56" /><Relationship Type="http://schemas.openxmlformats.org/officeDocument/2006/relationships/notesSlide" Target="/ppt/notesSlides/notesSlide1.xml" Id="Rc18af543b9a040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d5810a3674081" /><Relationship Type="http://schemas.openxmlformats.org/officeDocument/2006/relationships/notesSlide" Target="/ppt/notesSlides/notesSlide2.xml" Id="R296ce279dbf74c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4d36dec8f4099" /><Relationship Type="http://schemas.openxmlformats.org/officeDocument/2006/relationships/notesSlide" Target="/ppt/notesSlides/notesSlide3.xml" Id="Reb93e0c3552443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2fb5dfcdd411a" /><Relationship Type="http://schemas.openxmlformats.org/officeDocument/2006/relationships/notesSlide" Target="/ppt/notesSlides/notesSlide4.xml" Id="Rbbe0bd8f27ff4d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ecf78f93e4e5f" /><Relationship Type="http://schemas.openxmlformats.org/officeDocument/2006/relationships/notesSlide" Target="/ppt/notesSlides/notesSlide5.xml" Id="R5becab8f53064e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f305523624839" /><Relationship Type="http://schemas.openxmlformats.org/officeDocument/2006/relationships/notesSlide" Target="/ppt/notesSlides/notesSlide6.xml" Id="R61288248e8c448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f248315374931" /><Relationship Type="http://schemas.openxmlformats.org/officeDocument/2006/relationships/notesSlide" Target="/ppt/notesSlides/notesSlide7.xml" Id="R9b7ae2e0112e43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5eed3f4f14610" /><Relationship Type="http://schemas.openxmlformats.org/officeDocument/2006/relationships/notesSlide" Target="/ppt/notesSlides/notesSlide8.xml" Id="R6d4be668c3ab4a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4ed56921e4863" /><Relationship Type="http://schemas.openxmlformats.org/officeDocument/2006/relationships/image" Target="/ppt/media/image2.png" Id="R118a41856998424d" /><Relationship Type="http://schemas.openxmlformats.org/officeDocument/2006/relationships/notesSlide" Target="/ppt/notesSlides/notesSlide9.xml" Id="R89ee4739c8d648f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4a3c200ca4f5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9C1B7B-97D0-469B-86F8-FDAEB63F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>
              <a:alpha val="38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8F232-CCFD-4BE8-B053-BB9C4BDA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4350"/>
            <a:ext cx="5905500" cy="5829300"/>
          </a:xfrm>
          <a:prstGeom xmlns:a="http://schemas.openxmlformats.org/drawingml/2006/main" prst="roundRect">
            <a:avLst>
              <a:gd name="adj" fmla="val 4575"/>
            </a:avLst>
          </a:prstGeom>
          <a:solidFill xmlns:a="http://schemas.openxmlformats.org/drawingml/2006/main">
            <a:srgbClr val="07110D">
              <a:alpha val="82000"/>
            </a:srgbClr>
          </a:solidFill>
          <a:ln xmlns:a="http://schemas.openxmlformats.org/drawingml/2006/main" w="9525">
            <a:solidFill>
              <a:srgbClr val="20E6A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D1F3BB-6459-42F6-9425-D5D5E039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763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INVESTOR PITCH /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64C162-7CFE-4AE9-A4E3-3418C30C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145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DON'T STOP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EA74D-117A-49F1-A03B-5DF05BD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810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A territory capture fitness platform that turns the city into a live game 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9D890-8A5E-47CB-AE0E-2651F73B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PRE-SEED  •  $50,000  •  WORKING WEB ENGINE</a:t>
            </a:r>
          </a:p>
        </p:txBody>
      </p:sp>
    </p:spTree>
    <p:extLst>
      <p:ext uri="{BB962C8B-B14F-4D97-AF65-F5344CB8AC3E}">
        <p14:creationId xmlns:p14="http://schemas.microsoft.com/office/powerpoint/2010/main" val="18699996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C63143-B671-4027-B749-C12BC865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DON'T STOP  / 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CABDF8-FBA0-4F0E-B98F-DF134A13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82AB4-7D57-4B0C-8FF9-3C79ACE7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The problem and the opening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55FA3-F9CA-42F1-B6AD-777A7E55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F6B57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FF6B57"/>
                </a:solidFill>
                <a:latin typeface="DejaVu Sans"/>
                <a:ea typeface="DejaVu Sans"/>
                <a:cs typeface="DejaVu Sans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F9FD66-8DBF-4C6C-869C-198C8CE5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906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OPPORTUNITY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19B789-2FE7-4C51-BD62-60F64476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533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A1714"/>
          </a:solidFill>
          <a:ln xmlns:a="http://schemas.openxmlformats.org/drawingml/2006/main" w="9525">
            <a:solidFill>
              <a:srgbClr val="6336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926C5E-E527-4B7E-B5C0-42495888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4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B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6B57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27F2EE-9960-4C3E-B799-E77284CA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85950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Fitness trackers measure activity, but they do not turn daily movement into a team game.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C9A17-6380-4918-96CD-D065CDE3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81350"/>
            <a:ext cx="533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A1714"/>
          </a:solidFill>
          <a:ln xmlns:a="http://schemas.openxmlformats.org/drawingml/2006/main" w="9525">
            <a:solidFill>
              <a:srgbClr val="6336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04478-A31B-4112-918E-A6DCFCA3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4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B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6B57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01F21-1D2B-4F7C-B783-D9A202D8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95650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Most users exercise alone. Local rivalry and a shared objective are missing.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61AE6-3315-4863-B33E-EC7B3800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91050"/>
            <a:ext cx="533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1A1714"/>
          </a:solidFill>
          <a:ln xmlns:a="http://schemas.openxmlformats.org/drawingml/2006/main" w="9525">
            <a:solidFill>
              <a:srgbClr val="6336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621420-026C-41E0-A86F-D083A2530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438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4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6B5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F6B5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D54E03-EC2A-4DE8-86CE-4163FF08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05350"/>
            <a:ext cx="43243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Mobile players want real-world progress, while deep guild mechanics remain uncommon.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248B9D-6F38-44CF-B456-01A9D7C0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771650"/>
            <a:ext cx="533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1B705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C55032-E897-49F0-950F-C1EE4CD1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9240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CAPTURE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FBCAA4-1DC6-4030-897F-04E370E1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71700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A closed walking or running route captures the enclosed territory on the live map.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3A1073-20F4-4E41-A669-0C54C48D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33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1B705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5523EA-2926-463C-BFD8-E2520DFC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337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GUILDS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1539E5-2B93-4E68-A3DE-388B8420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581400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Guilds of up to 10 players compete through rankings and weekly territory events.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9E18F-BEB7-40E4-B567-3D3AFE08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91050"/>
            <a:ext cx="5334000" cy="1143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1B705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E4B25-9A35-45CF-8559-F11C07C5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434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PLATFORM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313CDC-4F23-49BD-AEFF-24EFD86E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91100"/>
            <a:ext cx="4800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One platform connects fitness, social play and local brand activations.</a:t>
            </a:r>
          </a:p>
        </p:txBody>
      </p:sp>
    </p:spTree>
    <p:extLst>
      <p:ext uri="{BB962C8B-B14F-4D97-AF65-F5344CB8AC3E}">
        <p14:creationId xmlns:p14="http://schemas.microsoft.com/office/powerpoint/2010/main" val="1917328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6CAA2-FBC2-4CC3-8493-715FA2FD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DON'T STOP  / 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14F98-1ECB-4ED3-A4CC-6AD21AFF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E0CBC-3F8C-4398-9CAD-94995F28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How the product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A8DBA-3616-433B-BF8F-753D222C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3505200" cy="39814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19830-5998-429D-9D8A-7595D6F4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1 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2139A7-7C2D-4B74-9E03-E0DD1E7D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009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GPS validates the closed loop and calculates the remaining connection gap.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8AE18A-AA3D-4A78-86AF-807EB774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1611"/>
          </a:solidFill>
          <a:ln xmlns:a="http://schemas.openxmlformats.org/drawingml/2006/main" w="28575">
            <a:solidFill>
              <a:srgbClr val="20E6A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FDE2E0-1BC6-40B9-BDE6-755AC212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19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A1"/>
          </a:solidFill>
          <a:ln xmlns:a="http://schemas.openxmlformats.org/drawingml/2006/main" w="0">
            <a:solidFill>
              <a:srgbClr val="20E6A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C8299-91B5-446F-B568-44289E19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600200"/>
            <a:ext cx="3505200" cy="39814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0281E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009B1E-D34A-4894-894A-1A3D08B5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478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2  TERRITORY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26298-B0B9-4ED9-B29D-69C68203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81250"/>
            <a:ext cx="3009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The area inside a verified route becomes captured ground on the map.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D1DDF-A038-4800-867B-C201211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886200"/>
            <a:ext cx="1428750" cy="14287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1D2114"/>
          </a:solidFill>
          <a:ln xmlns:a="http://schemas.openxmlformats.org/drawingml/2006/main" w="28575">
            <a:solidFill>
              <a:srgbClr val="FFB5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804E2-277D-4E47-A946-E95B1E94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05300"/>
            <a:ext cx="7429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+1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45896-9B7A-45A3-96A0-A401D650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00200"/>
            <a:ext cx="3505200" cy="398145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ED739-A3C4-42EE-8591-7AE08AD2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4785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3  GUILD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2E3B6-07C9-44F7-9D28-385DB759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81250"/>
            <a:ext cx="3009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Teams defend territory and earn points in a weekly leaderboard.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3E999-E25D-42E6-956A-A196C5E2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343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A1"/>
          </a:solidFill>
          <a:ln xmlns:a="http://schemas.openxmlformats.org/drawingml/2006/main" w="19050">
            <a:solidFill>
              <a:srgbClr val="07110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09773-7544-4076-9275-BC4536BB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72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19050">
            <a:solidFill>
              <a:srgbClr val="07110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796D77-B949-4040-B084-F7A82C8C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43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A1"/>
          </a:solidFill>
          <a:ln xmlns:a="http://schemas.openxmlformats.org/drawingml/2006/main" w="19050">
            <a:solidFill>
              <a:srgbClr val="07110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420530-F87D-4696-AB1A-31D81F6E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3885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GPS  •  POSTGIS  •  MAPLIBRE GL</a:t>
            </a:r>
          </a:p>
        </p:txBody>
      </p:sp>
    </p:spTree>
    <p:extLst>
      <p:ext uri="{BB962C8B-B14F-4D97-AF65-F5344CB8AC3E}">
        <p14:creationId xmlns:p14="http://schemas.microsoft.com/office/powerpoint/2010/main" val="5758342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290921-3F85-4208-B0DD-DD411A09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DON'T STOP  / 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A6356-3BBB-4630-91B1-C64CD33D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94AE2-5504-4476-85C5-E9266B06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Why users come back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4EC8C-401C-4433-AB8D-B402042C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5257800" cy="1752600"/>
          </a:xfrm>
          <a:prstGeom xmlns:a="http://schemas.openxmlformats.org/drawingml/2006/main" prst="roundRect">
            <a:avLst>
              <a:gd name="adj" fmla="val 11957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0E6A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ADB86-949C-4981-8FDD-1ED8CB76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WEEKLY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E5571-718C-4AE2-8D57-A7F3A760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724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Territory competition creates a fresh objective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0A2394-A584-4932-83D0-79FC636E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5257800" cy="1752600"/>
          </a:xfrm>
          <a:prstGeom xmlns:a="http://schemas.openxmlformats.org/drawingml/2006/main" prst="roundRect">
            <a:avLst>
              <a:gd name="adj" fmla="val 11957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DA1E2-12AA-43A7-9495-25CDF081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097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TEAM MOTIVATION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DAB4F1-F435-408A-AD7B-7A245831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90750"/>
            <a:ext cx="4724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Guild performance depends on member activity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4EF9B-BD26-4C6B-88A0-480525F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5257800" cy="1752600"/>
          </a:xfrm>
          <a:prstGeom xmlns:a="http://schemas.openxmlformats.org/drawingml/2006/main" prst="roundRect">
            <a:avLst>
              <a:gd name="adj" fmla="val 11957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BF531-4B96-4D1E-A88E-02A0E047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PERSONAL IDENTITY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84E879-FB61-4159-8483-13D1237E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4724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Emblems, avatars and map effects signal status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C27478-5623-4768-8EF5-DFF0DA5D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5257800" cy="1752600"/>
          </a:xfrm>
          <a:prstGeom xmlns:a="http://schemas.openxmlformats.org/drawingml/2006/main" prst="roundRect">
            <a:avLst>
              <a:gd name="adj" fmla="val 11957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C35311-9EED-4BC6-8ED0-40669D35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472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SAFETY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2083C-DA3C-450B-A058-D1DAECB1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24350"/>
            <a:ext cx="4724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200 m privacy radius and teleport detection</a:t>
            </a:r>
          </a:p>
        </p:txBody>
      </p:sp>
    </p:spTree>
    <p:extLst>
      <p:ext uri="{BB962C8B-B14F-4D97-AF65-F5344CB8AC3E}">
        <p14:creationId xmlns:p14="http://schemas.microsoft.com/office/powerpoint/2010/main" val="6319190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B49C3-669D-48CF-BDF7-A1BC31D0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DON'T STOP  / 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4E402-291C-4701-8229-61C9074D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F403D-C5C0-4E0F-8FA7-48CA1B96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Revenue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D4FDC2-F010-456E-8B14-8F1D16A4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2552700" cy="371475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69016-802D-4609-98E4-BF953C14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0A261-F3AD-4A4F-BF85-3000C7CA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BATTLE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EE906-1A54-46F7-8EBB-6889909B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209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Trail effects, emblems and map themes</a:t>
            </a:r>
          </a:p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$4.99 / month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3D68D-9452-4DF8-8EDE-300F614B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38300"/>
            <a:ext cx="2552700" cy="371475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DEF61-8E48-4A93-ABA0-3F985888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66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38F257-0241-4C8C-B6C8-0CC3B8D9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19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MICROTRANSACTIONS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C740EC-F2F3-48AC-A4B2-4F3F2DEF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43250"/>
            <a:ext cx="209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Avatars, guild tokens and name changes</a:t>
            </a:r>
          </a:p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$0.99–$9.99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AA894C-5FE3-4100-9239-8334F47E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2552700" cy="371475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2A2112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12E50E-C2DF-4CF6-BD9E-72B6DA7AD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66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47C940-7E34-4250-9C01-F9F41940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19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BRAND PARTNERSHIPS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C795BD-9973-4C7A-8216-55F9F56C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209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Sponsored zones and tournaments</a:t>
            </a:r>
          </a:p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$2K–$10K / event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796F0-3A42-4BB5-A198-F6955F2C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38300"/>
            <a:ext cx="2552700" cy="3714750"/>
          </a:xfrm>
          <a:prstGeom xmlns:a="http://schemas.openxmlformats.org/drawingml/2006/main" prst="roundRect">
            <a:avLst>
              <a:gd name="adj" fmla="val 8209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76A48-AB58-449D-9E13-FABD9552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66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DED3FF-2406-49A2-A7D4-FC6AEA86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193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B2B ANALYTICS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9AB88D-5044-49E2-8052-E15A352D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43250"/>
            <a:ext cx="2095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Anonymized urban activity insights</a:t>
            </a:r>
          </a:p>
          <a:p xmlns:a="http://schemas.openxmlformats.org/drawingml/2006/main">
            <a:pPr>
              <a:def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Post-pilot opportunity</a:t>
            </a:r>
          </a:p>
        </p:txBody>
      </p:sp>
    </p:spTree>
    <p:extLst>
      <p:ext uri="{BB962C8B-B14F-4D97-AF65-F5344CB8AC3E}">
        <p14:creationId xmlns:p14="http://schemas.microsoft.com/office/powerpoint/2010/main" val="2571840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208780-AE60-40BE-945E-4A84D658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DON'T STOP  / 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DFA1E-F77B-4818-A49F-BBF76765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22216-7EEE-4D17-B492-8DD7884A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Three-year growth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30758-F135-4095-9EAD-EB220157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99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4513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6A3BC6-977B-41D8-9D07-F1986C59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A1"/>
          </a:solidFill>
          <a:ln xmlns:a="http://schemas.openxmlformats.org/drawingml/2006/main" w="0">
            <a:solidFill>
              <a:srgbClr val="20E6A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FBD99A-40CA-430D-B4AB-4D12D4607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3 MONTHS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30762B-D772-47BD-9C6B-ABF2FF01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1C721-808E-4098-A053-4A7AF0CC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3375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Nukus and Tashkent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35ECA-D580-4F6F-B1B0-FFEC8842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15K users*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3CC97-5FC7-48DB-B649-CD67BBE7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A1"/>
          </a:solidFill>
          <a:ln xmlns:a="http://schemas.openxmlformats.org/drawingml/2006/main" w="0">
            <a:solidFill>
              <a:srgbClr val="20E6A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53DF1-1AF1-42EC-9BC7-93F3FB96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5811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6 MONTHS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88B482-1605-4259-9995-A769A159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240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Regional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815FF9-0583-4283-96A7-E3FE2E00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Samarkand, Almaty, Shymkent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C80409-E75F-45E6-B0B5-CDC8C2A1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624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75K users*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F567C-74FC-4574-9725-0810FFBD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A1"/>
          </a:solidFill>
          <a:ln xmlns:a="http://schemas.openxmlformats.org/drawingml/2006/main" w="0">
            <a:solidFill>
              <a:srgbClr val="20E6A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B84B7D-E2FF-4BD7-9A3B-BC7E9256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5811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1 YEAR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07E256-09D9-454A-AA79-A6ECC934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240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Multi-country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E70591-AB8E-474D-9E86-D8443C3C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33375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Istanbul, Astana, Baku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5F281-C213-4B49-8FDD-32912E7C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624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300K users*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F5A93D-3AEE-4150-A76F-FBBA7E26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E6A1"/>
          </a:solidFill>
          <a:ln xmlns:a="http://schemas.openxmlformats.org/drawingml/2006/main" w="0">
            <a:solidFill>
              <a:srgbClr val="20E6A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1299C-83C5-4446-80C5-784C689D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811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2 YEARS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CACB67-6930-4E47-86F4-D028E41D9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240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Expansion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894EED-8664-4A1C-B503-FD8378F1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3375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MENA and Eastern Europe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D1BC6-89C7-4418-B6FF-9716AD73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624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1.2M users*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6CB8BD-8D95-4FD4-A9DE-D79D5DDE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952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547"/>
          </a:solidFill>
          <a:ln xmlns:a="http://schemas.openxmlformats.org/drawingml/2006/main" w="0">
            <a:solidFill>
              <a:srgbClr val="FFB547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0C1B7-4E79-4A9D-A6F2-CA47D044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5811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3 YEARS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17D1C4-CB99-426E-BB90-F3B767E9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924050"/>
            <a:ext cx="1981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Ecosystem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3649E7-9907-44CE-906F-4D002B46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3375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125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Global B2B sponsors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165291-626C-4ABB-AE6B-CB430ADF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9624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$4M+ annual revenue*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3ED703-687B-4D07-BD8F-F609FAD3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* Targets, not actual results. Updated after pilot evidence.</a:t>
            </a:r>
          </a:p>
        </p:txBody>
      </p:sp>
    </p:spTree>
    <p:extLst>
      <p:ext uri="{BB962C8B-B14F-4D97-AF65-F5344CB8AC3E}">
        <p14:creationId xmlns:p14="http://schemas.microsoft.com/office/powerpoint/2010/main" val="6334295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AD3D0F-EC5D-4E3E-B1F6-16BB8D64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DON'T STOP  / 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B6866-D1EB-40EB-BA00-CDB2A4E3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83997E-4679-41B1-9627-62D40729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Use of $50,000 investment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6A5838-550C-4B67-9289-A1373041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314700" cy="44767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251C"/>
          </a:solidFill>
          <a:ln xmlns:a="http://schemas.openxmlformats.org/drawingml/2006/main" w="9525">
            <a:solidFill>
              <a:srgbClr val="FFB5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CCC86-D845-4738-8F6F-BE441E3C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2781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113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$50,000 PRE-SEED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9B164-69EB-4FB1-BE1D-F55D6C60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27813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✓  12-month runway</a:t>
            </a:r>
          </a:p>
          <a:p xmlns:a="http://schemas.openxmlformats.org/drawingml/2006/main">
            <a:pPr>
              <a:def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✓  Android APK/AAB release</a:t>
            </a:r>
          </a:p>
          <a:p xmlns:a="http://schemas.openxmlformats.org/drawingml/2006/main">
            <a:pPr>
              <a:def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✓  Five core roles</a:t>
            </a:r>
          </a:p>
          <a:p xmlns:a="http://schemas.openxmlformats.org/drawingml/2006/main">
            <a:pPr>
              <a:def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✓  Server and map infrastructure</a:t>
            </a:r>
          </a:p>
          <a:p xmlns:a="http://schemas.openxmlformats.org/drawingml/2006/main">
            <a:pPr>
              <a:def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✓  Campus and influencer pilots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ABE3D-5F19-4930-B485-BD2369E1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24000"/>
            <a:ext cx="7467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9DFD80-7171-4C49-9E25-26E9B8AB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002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BACKEND AND SPATIAL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B710C-7181-4954-8EAB-CEEDA62E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002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$12K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76C0A-1355-471F-9848-92E38DF0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6002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24%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4D94FF-D2AB-4C08-B6AE-1D29D36B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66950"/>
            <a:ext cx="7467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21782-DA5B-4867-B020-52FAF313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FRONTEND AND MOBILE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9F7B1-4A78-4DD6-A944-9484E926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$10K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ADA8E-D1DA-4EA4-BF98-3D3A90A4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431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E5723-1538-48F7-BC7A-F263F647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09900"/>
            <a:ext cx="7467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F75449-7091-495A-B086-2707CA73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861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GAME / SPATIAL ENGINEERING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5AC57-BA07-435E-86C6-1D6C7EFF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861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$10K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0F223-7A6E-430C-8DFE-7181A869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0861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20%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083244-B23B-495A-BBBB-46883B16F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52850"/>
            <a:ext cx="7467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AE85E-E53E-4CF2-88FD-06AAC9A5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29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BRAND AND DESIGN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4A810-CE09-4BF2-A392-BFEF5919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290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$6K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FA3919-3D2B-4D50-A3C2-B4783884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290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12%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E9E48C-4C57-4994-BC0F-DF7DEFF8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95800"/>
            <a:ext cx="7467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B6AC1-FCBA-46C0-B7B9-EC9F21AB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72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MARKETING AND COMMUNITY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3E1295-5936-45E6-8362-7B3CE947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7200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$7K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7AAB8F-9A7D-4A83-AEB9-E0809FE1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57200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14%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665202-9556-44D6-B7B8-F6147B67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238750"/>
            <a:ext cx="74676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969E0A-0982-47F4-87B4-4B16C3C0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14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SERVERS, LEGAL, CONTINGENCY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825EFE-0A46-497A-8AA1-9B19381F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14950"/>
            <a:ext cx="104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$5K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CFC09E-E193-48B1-B838-12A44835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14950"/>
            <a:ext cx="81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10%</a:t>
            </a:r>
          </a:p>
        </p:txBody>
      </p:sp>
    </p:spTree>
    <p:extLst>
      <p:ext uri="{BB962C8B-B14F-4D97-AF65-F5344CB8AC3E}">
        <p14:creationId xmlns:p14="http://schemas.microsoft.com/office/powerpoint/2010/main" val="501684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1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581D1E-3F40-44A5-9AAE-115AA594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DON'T STOP  /  INVESTOR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7D1FB-898C-42E8-985E-804EE356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DC9BC-96A5-4F07-ACFA-41772317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A working technology foundation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ADCC3-E3A5-479C-A4CE-B4EDA428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3528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0E6A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72E07-E667-4FD9-BEF7-D7B95298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WORKING WEB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896AD-9D03-4940-9D83-711579834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FastAPI + PostGIS + MapLibre GL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C390A-D694-4BFF-973E-D0018490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62100"/>
            <a:ext cx="33528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7EA43-5899-4185-ACED-EE8C929D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716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105 AUTOMATED TESTS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D0645-D424-45A0-B6CE-123150DE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09800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Unit and integration coverage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EBE9C-8D9C-409B-A5E2-5961BE43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62100"/>
            <a:ext cx="33528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1824D-D5A5-4ADE-86F0-35AD03BE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716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MOBILE 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78D832-44A7-4B4F-9CD3-A830858F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28956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React + Vite + Capacitor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BE196-6D3F-400A-AF3A-5140EC31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14750"/>
            <a:ext cx="35814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031AB-F58C-4444-9256-B3A36861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9243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ANTI-CHEAT AND PRIVACY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FC45B-70BF-47E0-BDC9-53D5513E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62450"/>
            <a:ext cx="312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Teleport detection, 200 m radius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DB7C97-DCE0-48B0-811E-4E134806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3581400" cy="1714500"/>
          </a:xfrm>
          <a:prstGeom xmlns:a="http://schemas.openxmlformats.org/drawingml/2006/main" prst="roundRect">
            <a:avLst>
              <a:gd name="adj" fmla="val 12222"/>
            </a:avLst>
          </a:prstGeom>
          <a:solidFill xmlns:a="http://schemas.openxmlformats.org/drawingml/2006/main">
            <a:srgbClr val="0D1D17"/>
          </a:solidFill>
          <a:ln xmlns:a="http://schemas.openxmlformats.org/drawingml/2006/main" w="9525">
            <a:solidFill>
              <a:srgbClr val="2451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F2E70-70C9-41EF-BA3F-4E253BC5A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924300"/>
            <a:ext cx="312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FIVE LANGUAGES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6815FA-A24D-4ECC-BA14-87C3C4629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2450"/>
            <a:ext cx="3124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QQ, UZ, KK, TR, EN</a:t>
            </a:r>
          </a:p>
        </p:txBody>
      </p:sp>
    </p:spTree>
    <p:extLst>
      <p:ext uri="{BB962C8B-B14F-4D97-AF65-F5344CB8AC3E}">
        <p14:creationId xmlns:p14="http://schemas.microsoft.com/office/powerpoint/2010/main" val="64845209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a41856998424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CC52D-81B4-422C-A601-CEF1BA06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0D">
              <a:alpha val="46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EC84E9-98B6-4EE9-ACEC-9DF5416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104900"/>
            <a:ext cx="7810500" cy="4648200"/>
          </a:xfrm>
          <a:prstGeom xmlns:a="http://schemas.openxmlformats.org/drawingml/2006/main" prst="roundRect">
            <a:avLst>
              <a:gd name="adj" fmla="val 6148"/>
            </a:avLst>
          </a:prstGeom>
          <a:solidFill xmlns:a="http://schemas.openxmlformats.org/drawingml/2006/main">
            <a:srgbClr val="07110D">
              <a:alpha val="80000"/>
            </a:srgbClr>
          </a:solidFill>
          <a:ln xmlns:a="http://schemas.openxmlformats.org/drawingml/2006/main" w="9525">
            <a:solidFill>
              <a:srgbClr val="20E6A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65F338-8F84-48AD-B003-58162531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90700"/>
            <a:ext cx="681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4FFF9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F4FFF9"/>
                </a:solidFill>
                <a:latin typeface="DejaVu Sans"/>
                <a:ea typeface="DejaVu Sans"/>
                <a:cs typeface="DejaVu Sans"/>
              </a:rPr>
              <a:t>The city becomes the 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44680-DF1D-48E2-B395-870F4897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47950"/>
            <a:ext cx="647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8C1B5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8C1B5"/>
                </a:solidFill>
                <a:latin typeface="DejaVu Sans"/>
                <a:ea typeface="DejaVu Sans"/>
                <a:cs typeface="DejaVu Sans"/>
              </a:rPr>
              <a:t>We turn walking and running into a city-scale team game.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8CD66-624F-47D2-AD1D-0ACDF687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B547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FB547"/>
                </a:solidFill>
                <a:latin typeface="DejaVu Sans"/>
                <a:ea typeface="DejaVu Sans"/>
                <a:cs typeface="DejaVu Sans"/>
              </a:rPr>
              <a:t>$50,000 PRE-SEED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200EB7-ABFE-4AA0-9BD2-61052401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629150"/>
            <a:ext cx="617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0E6A1"/>
                </a:solidFill>
                <a:latin typeface="DejaVu Sans"/>
                <a:ea typeface="DejaVu Sans"/>
                <a:cs typeface="DejaVu Sans"/>
              </a:defRPr>
            </a:pPr>
            <a:r>
              <a:rPr sz="975" b="1">
                <a:solidFill>
                  <a:srgbClr val="20E6A1"/>
                </a:solidFill>
                <a:latin typeface="DejaVu Sans"/>
                <a:ea typeface="DejaVu Sans"/>
                <a:cs typeface="DejaVu Sans"/>
              </a:rPr>
              <a:t>WEB ENGINE READY  •  MOBILE PILOT IS NEXT</a:t>
            </a:r>
          </a:p>
        </p:txBody>
      </p:sp>
    </p:spTree>
    <p:extLst>
      <p:ext uri="{BB962C8B-B14F-4D97-AF65-F5344CB8AC3E}">
        <p14:creationId xmlns:p14="http://schemas.microsoft.com/office/powerpoint/2010/main" val="19409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2026-09-25T04:20:54.2340000Z</dcterms:created>
  <dcterms:modified xsi:type="dcterms:W3CDTF">2026-09-25T04:20:54.2340000Z</dcterms:modified>
</coreProperties>
</file>